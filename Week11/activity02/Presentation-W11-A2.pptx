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1" r:id="rId3"/>
    <p:sldId id="266" r:id="rId4"/>
    <p:sldId id="263" r:id="rId5"/>
    <p:sldId id="265" r:id="rId6"/>
    <p:sldId id="262" r:id="rId7"/>
    <p:sldId id="25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6/27/26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6/27/26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0416C-87F6-51E0-0DA3-9342540C8A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700" dirty="0">
                <a:solidFill>
                  <a:srgbClr val="002060"/>
                </a:solidFill>
              </a:rPr>
              <a:t>Analysis on Wellbeing Data (NZ)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AFC9AE-B7B5-1A53-22B6-9CE7A7848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326903"/>
            <a:ext cx="7766936" cy="820829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Presented by Zaw Min Tun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103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884F175-9D23-496E-80AC-F3D2FD541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2D4B7B8-5AFE-4B32-A805-72EC571E6F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57D13B2-7A74-4788-8689-5EDB2DA86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66964837-B2CC-483D-BEDA-4BB1901BCC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77D4E216-8B6C-4A3B-AF75-3016320F6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CDD4EA12-82D2-47D7-8742-8F4746AA6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115B7F7E-4C23-429B-A947-A5B436DB2D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A6B03A29-0A21-40D4-87E4-3C41D6F54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6C871F60-4E5A-449A-B6D8-1F58C12EE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3182795B-2BFA-4D7B-BE85-701A73E253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810B9E5C-2AE2-4B4E-916F-F954F2AA8A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677334" y="609600"/>
            <a:ext cx="991287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About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258588-CD08-461A-40BA-0B16F32E6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3" y="1314450"/>
            <a:ext cx="4267200" cy="2349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CAD2E3-F442-D72C-3683-94AEA8347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803" y="1314450"/>
            <a:ext cx="4908684" cy="39902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094D90-7E55-2A84-CDE7-C936A23503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1" y="4228306"/>
            <a:ext cx="33147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FED534-5D65-B1E2-513B-A12FED52C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E69E0B9C-DFEB-56FE-60BD-216CCC11D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95F6B58-8A45-A0CA-A3F8-DA296DA50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F37C5B4-F240-E2FB-6CF7-9AE80EC931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67C4A9B0-9430-7B48-6EFD-A2CF8CA5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B954447-302B-C660-8654-05A2B0489C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146137E2-74D7-8B1B-5786-736C98D3C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1FDECF67-2866-5D81-21FE-57E3AB5FA8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B707DA53-A483-7425-31E1-9CD15E6203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6ED91820-BB2E-1C40-8D79-03BB4AE97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335B98A0-FF86-24B1-12C8-97668C5BE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911540E7-F542-B481-7684-779192CF0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81B3694-D43C-5DA9-96F2-2634709F571F}"/>
              </a:ext>
            </a:extLst>
          </p:cNvPr>
          <p:cNvSpPr txBox="1"/>
          <p:nvPr/>
        </p:nvSpPr>
        <p:spPr>
          <a:xfrm>
            <a:off x="677334" y="609600"/>
            <a:ext cx="991287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EDA: Wellbeing Estimates — Distribution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6B1C2A-0CF2-EBD6-E551-B24002BA6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01" y="1313944"/>
            <a:ext cx="5618191" cy="29074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6AA71B-9058-1DE4-B7E1-A3A35A1FFDF8}"/>
              </a:ext>
            </a:extLst>
          </p:cNvPr>
          <p:cNvSpPr txBox="1"/>
          <p:nvPr/>
        </p:nvSpPr>
        <p:spPr>
          <a:xfrm>
            <a:off x="6515676" y="4927601"/>
            <a:ext cx="5433428" cy="150126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200" dirty="0">
                <a:solidFill>
                  <a:schemeClr val="bg1"/>
                </a:solidFill>
              </a:rPr>
              <a:t> Right-skewed: most estimates concentrate in the 5–25% range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200" dirty="0">
                <a:solidFill>
                  <a:schemeClr val="bg1"/>
                </a:solidFill>
              </a:rPr>
              <a:t>  Sharp peak at 5–8%: many hardship measures affect a small minority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200" dirty="0">
                <a:solidFill>
                  <a:schemeClr val="bg1"/>
                </a:solidFill>
              </a:rPr>
              <a:t>  Sparse right tail (60–90%): only a few safety measures reach this range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200" dirty="0">
                <a:solidFill>
                  <a:schemeClr val="bg1"/>
                </a:solidFill>
              </a:rPr>
              <a:t>  Shape is driven by more negatively-framed measures than positive ones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17D659-F241-D758-0F06-4EE09BAB9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33" y="4045992"/>
            <a:ext cx="6074788" cy="2779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702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712" y="32004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2060"/>
                </a:solidFill>
              </a:rPr>
              <a:t>EDA: Trend Direction &amp; Most Changed Series (2014→2018)</a:t>
            </a:r>
          </a:p>
        </p:txBody>
      </p:sp>
      <p:pic>
        <p:nvPicPr>
          <p:cNvPr id="3" name="Picture 2" descr="03_trend_dir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3889248" cy="2011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94602" y="1262383"/>
            <a:ext cx="4853734" cy="119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dirty="0">
                <a:solidFill>
                  <a:srgbClr val="404040"/>
                </a:solidFill>
              </a:rPr>
              <a:t>•  37 increasing, 40 stable, 19 declining — looks broadly positive</a:t>
            </a: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404040"/>
                </a:solidFill>
              </a:rPr>
              <a:t>•  BUT the largest movers are mostly hardship indicators going up</a:t>
            </a: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404040"/>
                </a:solidFill>
              </a:rPr>
              <a:t>•  Job satisfaction (Very satisfied) fell by 9pp — biggest single drop</a:t>
            </a: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404040"/>
                </a:solidFill>
              </a:rPr>
              <a:t>•  Cost-cutting </a:t>
            </a:r>
            <a:r>
              <a:rPr sz="1100" dirty="0" err="1">
                <a:solidFill>
                  <a:srgbClr val="404040"/>
                </a:solidFill>
              </a:rPr>
              <a:t>behaviours</a:t>
            </a:r>
            <a:r>
              <a:rPr sz="1100" dirty="0">
                <a:solidFill>
                  <a:srgbClr val="404040"/>
                </a:solidFill>
              </a:rPr>
              <a:t> (hobbies, repairs, food) rose 5–6.5pp</a:t>
            </a: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404040"/>
                </a:solidFill>
              </a:rPr>
              <a:t>•  Stability in chart 2 masks a real deterioration in quality of life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7DBAA3-2B20-FEE9-96EC-977FFCA86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120" y="2971800"/>
            <a:ext cx="7772400" cy="36409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712" y="32004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2060"/>
                </a:solidFill>
              </a:rPr>
              <a:t>EDA: Period-on-Period Change Distribution (Total Population)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349240"/>
            <a:ext cx="11612880" cy="961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dirty="0">
                <a:solidFill>
                  <a:srgbClr val="404040"/>
                </a:solidFill>
              </a:rPr>
              <a:t>•  2014→2016: narrow spread (within ±2pp) — a calm, stable period</a:t>
            </a:r>
          </a:p>
          <a:p>
            <a:pPr>
              <a:spcAft>
                <a:spcPts val="500"/>
              </a:spcAft>
            </a:pPr>
            <a:r>
              <a:rPr lang="en-SG" sz="1100" dirty="0">
                <a:solidFill>
                  <a:srgbClr val="404040"/>
                </a:solidFill>
              </a:rPr>
              <a:t>•  Most series still clustered near 0 in both periods</a:t>
            </a: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404040"/>
                </a:solidFill>
              </a:rPr>
              <a:t>•  2016→2018: much wider spread (up to ±10pp) — significantly more volatile</a:t>
            </a: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404040"/>
                </a:solidFill>
              </a:rPr>
              <a:t>•  Rising volatility means 2020 forecasts carry greater uncertainty than a linear trend would suggest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69551D-6710-4BEC-7335-98606D408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178" y="1221516"/>
            <a:ext cx="11227599" cy="37582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712" y="32004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2060"/>
                </a:solidFill>
              </a:rPr>
              <a:t>EDA: Overall Wellbeing Trend 2014–2018</a:t>
            </a:r>
          </a:p>
        </p:txBody>
      </p:sp>
      <p:pic>
        <p:nvPicPr>
          <p:cNvPr id="3" name="Picture 2" descr="02_mean_b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996" y="822960"/>
            <a:ext cx="5535003" cy="45806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45533" y="5150182"/>
            <a:ext cx="6109181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dirty="0">
                <a:solidFill>
                  <a:srgbClr val="404040"/>
                </a:solidFill>
              </a:rPr>
              <a:t>•  Mean estimate is virtually flat: 25.0% → 24.9% → 25.4%</a:t>
            </a: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404040"/>
                </a:solidFill>
              </a:rPr>
              <a:t>•  Aggregate NZ wellbeing appears stable over this period</a:t>
            </a: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404040"/>
                </a:solidFill>
              </a:rPr>
              <a:t>•  Averaging across all measures cancels out individual trends</a:t>
            </a: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404040"/>
                </a:solidFill>
              </a:rPr>
              <a:t>•  A flat mean does not mean nothing changed — it masks opposing movements</a:t>
            </a:r>
          </a:p>
          <a:p>
            <a:pPr>
              <a:spcAft>
                <a:spcPts val="500"/>
              </a:spcAft>
            </a:pPr>
            <a:r>
              <a:rPr sz="1200" dirty="0">
                <a:solidFill>
                  <a:srgbClr val="404040"/>
                </a:solidFill>
              </a:rPr>
              <a:t>•  Measure framing matters: for negative measures, 25% means 75% are unaffected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D4B05-71B4-4AF6-0353-261C1E1BB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538E9-7F8D-4E6E-9D96-1C6D46E4CE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700" dirty="0">
                <a:solidFill>
                  <a:srgbClr val="002060"/>
                </a:solidFill>
              </a:rPr>
              <a:t>Analysis on Wellbeing Data (NZ)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97B64A-3B3D-4D1B-3D82-D464CEA4E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326903"/>
            <a:ext cx="7766936" cy="820829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Presented by Zaw Min Tun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0D8BDA0-2866-D97B-017A-031FB9BF3BD1}"/>
              </a:ext>
            </a:extLst>
          </p:cNvPr>
          <p:cNvSpPr txBox="1">
            <a:spLocks/>
          </p:cNvSpPr>
          <p:nvPr/>
        </p:nvSpPr>
        <p:spPr>
          <a:xfrm>
            <a:off x="1112713" y="1952606"/>
            <a:ext cx="7766936" cy="90385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5700" dirty="0">
                <a:solidFill>
                  <a:srgbClr val="002060"/>
                </a:solidFill>
              </a:rPr>
              <a:t>Thank You !!!</a:t>
            </a:r>
          </a:p>
        </p:txBody>
      </p:sp>
    </p:spTree>
    <p:extLst>
      <p:ext uri="{BB962C8B-B14F-4D97-AF65-F5344CB8AC3E}">
        <p14:creationId xmlns:p14="http://schemas.microsoft.com/office/powerpoint/2010/main" val="314077298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</TotalTime>
  <Words>300</Words>
  <Application>Microsoft Macintosh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Analysis on Wellbeing Data (NZ)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Analysis on Wellbeing Data (NZ)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Zaw Min Tun</dc:creator>
  <cp:lastModifiedBy>Zaw Min Tun</cp:lastModifiedBy>
  <cp:revision>3</cp:revision>
  <dcterms:created xsi:type="dcterms:W3CDTF">2026-06-21T00:13:02Z</dcterms:created>
  <dcterms:modified xsi:type="dcterms:W3CDTF">2026-06-27T08:29:25Z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2026-06-21T09:57:48Z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d0298407-4bf1-4359-8e33-29a217554718</vt:lpwstr>
  </property>
  <property fmtid="{D5CDD505-2E9C-101B-9397-08002B2CF9AE}" pid="8" name="MSIP_Label_c96ed6d7-747c-41fd-b042-ff14484edc24_ContentBits">
    <vt:lpwstr>0</vt:lpwstr>
  </property>
  <property fmtid="{D5CDD505-2E9C-101B-9397-08002B2CF9AE}" pid="9" name="MSIP_Label_c96ed6d7-747c-41fd-b042-ff14484edc24_Tag">
    <vt:lpwstr>50, 3, 0, 1</vt:lpwstr>
  </property>
</Properties>
</file>