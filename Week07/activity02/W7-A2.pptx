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5d245e95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5d245e95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55d245e95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55d245e95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55d245e9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55d245e9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55d245e95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55d245e95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55d245e95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55d245e95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55d245e95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55d245e95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5d245e95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55d245e9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55d245e95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55d245e9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5d245e9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55d245e9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56475" y="704575"/>
            <a:ext cx="6504000" cy="21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/>
              <a:t>Data Analysis on Credit Fraud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/>
              <a:t>                            </a:t>
            </a:r>
            <a:r>
              <a:rPr lang="en-GB" sz="1756"/>
              <a:t>Presented  by  Zaw Min Tun</a:t>
            </a:r>
            <a:endParaRPr sz="175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sp>
        <p:nvSpPr>
          <p:cNvPr id="91" name="Google Shape;91;p14"/>
          <p:cNvSpPr txBox="1"/>
          <p:nvPr>
            <p:ph type="ctrTitle"/>
          </p:nvPr>
        </p:nvSpPr>
        <p:spPr>
          <a:xfrm>
            <a:off x="203275" y="172350"/>
            <a:ext cx="1962900" cy="5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6"/>
              <a:t>Dataset</a:t>
            </a:r>
            <a:endParaRPr sz="2156"/>
          </a:p>
        </p:txBody>
      </p:sp>
      <p:sp>
        <p:nvSpPr>
          <p:cNvPr id="92" name="Google Shape;92;p14"/>
          <p:cNvSpPr txBox="1"/>
          <p:nvPr>
            <p:ph type="ctrTitle"/>
          </p:nvPr>
        </p:nvSpPr>
        <p:spPr>
          <a:xfrm>
            <a:off x="352300" y="662006"/>
            <a:ext cx="8611800" cy="2820900"/>
          </a:xfrm>
          <a:prstGeom prst="rect">
            <a:avLst/>
          </a:prstGeom>
          <a:solidFill>
            <a:srgbClr val="1155CC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About: Credit card transactions 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			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284807 Records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31 Features</a:t>
            </a:r>
            <a:endParaRPr sz="1756"/>
          </a:p>
          <a:p>
            <a:pPr indent="-340078" lvl="0" marL="457200" rtl="0" algn="l">
              <a:spcBef>
                <a:spcPts val="0"/>
              </a:spcBef>
              <a:spcAft>
                <a:spcPts val="0"/>
              </a:spcAft>
              <a:buSzPts val="1756"/>
              <a:buChar char="-"/>
            </a:pPr>
            <a:r>
              <a:rPr lang="en-GB" sz="1756"/>
              <a:t>Time (Elapsed time from the first transaction)</a:t>
            </a:r>
            <a:endParaRPr sz="1756"/>
          </a:p>
          <a:p>
            <a:pPr indent="-340078" lvl="0" marL="457200" rtl="0" algn="l">
              <a:spcBef>
                <a:spcPts val="0"/>
              </a:spcBef>
              <a:spcAft>
                <a:spcPts val="0"/>
              </a:spcAft>
              <a:buSzPts val="1756"/>
              <a:buChar char="-"/>
            </a:pPr>
            <a:r>
              <a:rPr lang="en-GB" sz="1756"/>
              <a:t>Amount </a:t>
            </a:r>
            <a:endParaRPr sz="1756"/>
          </a:p>
          <a:p>
            <a:pPr indent="-340078" lvl="0" marL="457200" rtl="0" algn="l">
              <a:spcBef>
                <a:spcPts val="0"/>
              </a:spcBef>
              <a:spcAft>
                <a:spcPts val="0"/>
              </a:spcAft>
              <a:buSzPts val="1756"/>
              <a:buChar char="-"/>
            </a:pPr>
            <a:r>
              <a:rPr lang="en-GB" sz="1756"/>
              <a:t>Class (1:  Fraud, 0: Legit)</a:t>
            </a:r>
            <a:endParaRPr sz="1756"/>
          </a:p>
          <a:p>
            <a:pPr indent="-340078" lvl="0" marL="457200" rtl="0" algn="l">
              <a:spcBef>
                <a:spcPts val="0"/>
              </a:spcBef>
              <a:spcAft>
                <a:spcPts val="0"/>
              </a:spcAft>
              <a:buSzPts val="1756"/>
              <a:buChar char="-"/>
            </a:pPr>
            <a:r>
              <a:rPr lang="en-GB" sz="1756"/>
              <a:t>The remaining 28 features are values  transformed with PCA (For confidentiality) 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Data source: https://www.kaggle.com/datasets/mlg-ulb/creditcardfraud</a:t>
            </a:r>
            <a:endParaRPr sz="1756"/>
          </a:p>
        </p:txBody>
      </p:sp>
      <p:sp>
        <p:nvSpPr>
          <p:cNvPr id="93" name="Google Shape;93;p14"/>
          <p:cNvSpPr txBox="1"/>
          <p:nvPr>
            <p:ph type="ctrTitle"/>
          </p:nvPr>
        </p:nvSpPr>
        <p:spPr>
          <a:xfrm>
            <a:off x="352300" y="3567966"/>
            <a:ext cx="8611800" cy="439800"/>
          </a:xfrm>
          <a:prstGeom prst="rect">
            <a:avLst/>
          </a:prstGeom>
          <a:solidFill>
            <a:srgbClr val="45818E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No NULL value</a:t>
            </a:r>
            <a:endParaRPr sz="1756"/>
          </a:p>
        </p:txBody>
      </p:sp>
      <p:sp>
        <p:nvSpPr>
          <p:cNvPr id="94" name="Google Shape;94;p14"/>
          <p:cNvSpPr txBox="1"/>
          <p:nvPr>
            <p:ph type="ctrTitle"/>
          </p:nvPr>
        </p:nvSpPr>
        <p:spPr>
          <a:xfrm>
            <a:off x="352300" y="4092841"/>
            <a:ext cx="8611800" cy="439800"/>
          </a:xfrm>
          <a:prstGeom prst="rect">
            <a:avLst/>
          </a:prstGeom>
          <a:solidFill>
            <a:srgbClr val="B45F06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Duplicate records: 1081 (Cleaned  up)</a:t>
            </a:r>
            <a:endParaRPr sz="175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50" y="842975"/>
            <a:ext cx="7766550" cy="32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>
            <p:ph type="ctrTitle"/>
          </p:nvPr>
        </p:nvSpPr>
        <p:spPr>
          <a:xfrm>
            <a:off x="203275" y="172350"/>
            <a:ext cx="4279200" cy="5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6"/>
              <a:t>EDA 1  -  Class  Distribution</a:t>
            </a:r>
            <a:endParaRPr sz="215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200" y="879048"/>
            <a:ext cx="4896900" cy="36726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>
            <p:ph type="ctrTitle"/>
          </p:nvPr>
        </p:nvSpPr>
        <p:spPr>
          <a:xfrm>
            <a:off x="203275" y="172350"/>
            <a:ext cx="6866100" cy="5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6"/>
              <a:t>EDA 2  -  Boxplot - Amount  by Class  </a:t>
            </a:r>
            <a:endParaRPr sz="2156"/>
          </a:p>
        </p:txBody>
      </p:sp>
      <p:sp>
        <p:nvSpPr>
          <p:cNvPr id="109" name="Google Shape;109;p16"/>
          <p:cNvSpPr txBox="1"/>
          <p:nvPr/>
        </p:nvSpPr>
        <p:spPr>
          <a:xfrm>
            <a:off x="0" y="879050"/>
            <a:ext cx="4035300" cy="3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-"/>
            </a:pPr>
            <a:r>
              <a:rPr lang="en-GB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Most transactions are small amount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-"/>
            </a:pPr>
            <a:r>
              <a:rPr lang="en-GB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Many transactions with  significantly large amounts are legit 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-"/>
            </a:pPr>
            <a:r>
              <a:rPr lang="en-GB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Fraud transactions happen mostly on small amount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-"/>
            </a:pPr>
            <a:r>
              <a:rPr lang="en-GB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Fraud transactions happen up to about  3000 (amount)  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00" y="758275"/>
            <a:ext cx="8543498" cy="304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>
            <p:ph type="ctrTitle"/>
          </p:nvPr>
        </p:nvSpPr>
        <p:spPr>
          <a:xfrm>
            <a:off x="203275" y="172350"/>
            <a:ext cx="6866100" cy="5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6"/>
              <a:t>EDA 3  -  Time Distribution by Class</a:t>
            </a:r>
            <a:endParaRPr sz="2156"/>
          </a:p>
        </p:txBody>
      </p:sp>
      <p:sp>
        <p:nvSpPr>
          <p:cNvPr id="117" name="Google Shape;117;p17"/>
          <p:cNvSpPr txBox="1"/>
          <p:nvPr>
            <p:ph type="ctrTitle"/>
          </p:nvPr>
        </p:nvSpPr>
        <p:spPr>
          <a:xfrm>
            <a:off x="352300" y="4092841"/>
            <a:ext cx="8611800" cy="439800"/>
          </a:xfrm>
          <a:prstGeom prst="rect">
            <a:avLst/>
          </a:prstGeom>
          <a:solidFill>
            <a:srgbClr val="FF0000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56">
                <a:solidFill>
                  <a:srgbClr val="FFFFFF"/>
                </a:solidFill>
              </a:rPr>
              <a:t> FRAUD HAPPENS THROUGHOUT ALMOST  THE WHOLE TIME </a:t>
            </a:r>
            <a:endParaRPr b="1" sz="175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375" y="789763"/>
            <a:ext cx="6152775" cy="369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>
            <p:ph type="ctrTitle"/>
          </p:nvPr>
        </p:nvSpPr>
        <p:spPr>
          <a:xfrm>
            <a:off x="203275" y="172350"/>
            <a:ext cx="8569200" cy="5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6"/>
              <a:t>EDA 4  -  Top 15 Features (Absolute Correlation with  Class)</a:t>
            </a:r>
            <a:endParaRPr sz="215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sp>
        <p:nvSpPr>
          <p:cNvPr id="130" name="Google Shape;130;p19"/>
          <p:cNvSpPr txBox="1"/>
          <p:nvPr>
            <p:ph type="ctrTitle"/>
          </p:nvPr>
        </p:nvSpPr>
        <p:spPr>
          <a:xfrm>
            <a:off x="203275" y="44600"/>
            <a:ext cx="5354400" cy="62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6"/>
              <a:t>ML Model Development </a:t>
            </a:r>
            <a:endParaRPr sz="2156"/>
          </a:p>
        </p:txBody>
      </p:sp>
      <p:sp>
        <p:nvSpPr>
          <p:cNvPr id="131" name="Google Shape;131;p19"/>
          <p:cNvSpPr txBox="1"/>
          <p:nvPr>
            <p:ph type="ctrTitle"/>
          </p:nvPr>
        </p:nvSpPr>
        <p:spPr>
          <a:xfrm>
            <a:off x="331025" y="757950"/>
            <a:ext cx="8611800" cy="2884800"/>
          </a:xfrm>
          <a:prstGeom prst="rect">
            <a:avLst/>
          </a:prstGeom>
          <a:solidFill>
            <a:srgbClr val="1155CC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T</a:t>
            </a:r>
            <a:r>
              <a:rPr lang="en-GB" sz="1756"/>
              <a:t>raining / Testing Percentage: 80 / 20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  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Algorithm: SVM 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Method: LinearSVC  (Reason:  Dataset is large)</a:t>
            </a:r>
            <a:br>
              <a:rPr lang="en-GB" sz="1756"/>
            </a:br>
            <a:br>
              <a:rPr lang="en-GB" sz="1756"/>
            </a:br>
            <a:r>
              <a:rPr lang="en-GB" sz="1756"/>
              <a:t>Class weight: ‘balanced’  (Reason: The Class ratio is highly imbalanced)</a:t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/>
              <a:t>Max iteration: 2000</a:t>
            </a:r>
            <a:endParaRPr sz="1756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25" y="1329500"/>
            <a:ext cx="4356051" cy="31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975" y="301400"/>
            <a:ext cx="4255751" cy="2553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>
            <p:ph type="ctrTitle"/>
          </p:nvPr>
        </p:nvSpPr>
        <p:spPr>
          <a:xfrm>
            <a:off x="203275" y="172350"/>
            <a:ext cx="4566600" cy="5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56"/>
              <a:t>Evaluation  Metrics</a:t>
            </a:r>
            <a:endParaRPr sz="2156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ctrTitle"/>
          </p:nvPr>
        </p:nvSpPr>
        <p:spPr>
          <a:xfrm>
            <a:off x="4173825" y="4760325"/>
            <a:ext cx="4896900" cy="3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6"/>
              <a:t>Data Analysis on Credit Fraud - </a:t>
            </a:r>
            <a:r>
              <a:rPr lang="en-GB" sz="1300"/>
              <a:t>presented by  Zaw Min Tun</a:t>
            </a:r>
            <a:endParaRPr sz="1756"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650" y="670337"/>
            <a:ext cx="5070414" cy="380283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>
            <p:ph type="ctrTitle"/>
          </p:nvPr>
        </p:nvSpPr>
        <p:spPr>
          <a:xfrm>
            <a:off x="203275" y="172350"/>
            <a:ext cx="4566600" cy="5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56"/>
              <a:t>Findings &amp; Future  Improvements</a:t>
            </a:r>
            <a:endParaRPr sz="2156"/>
          </a:p>
        </p:txBody>
      </p:sp>
      <p:sp>
        <p:nvSpPr>
          <p:cNvPr id="147" name="Google Shape;147;p21"/>
          <p:cNvSpPr txBox="1"/>
          <p:nvPr>
            <p:ph type="ctrTitle"/>
          </p:nvPr>
        </p:nvSpPr>
        <p:spPr>
          <a:xfrm>
            <a:off x="203275" y="1045225"/>
            <a:ext cx="3544800" cy="1149600"/>
          </a:xfrm>
          <a:prstGeom prst="rect">
            <a:avLst/>
          </a:prstGeom>
          <a:solidFill>
            <a:srgbClr val="D9EAD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6">
                <a:solidFill>
                  <a:srgbClr val="1155CC"/>
                </a:solidFill>
              </a:rPr>
              <a:t>Random guess: 0.0017</a:t>
            </a:r>
            <a:endParaRPr b="1" sz="2156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6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6">
                <a:solidFill>
                  <a:srgbClr val="1155CC"/>
                </a:solidFill>
              </a:rPr>
              <a:t>With  ML Model: 0.6193</a:t>
            </a:r>
            <a:endParaRPr b="1" sz="2156">
              <a:solidFill>
                <a:srgbClr val="1155CC"/>
              </a:solidFill>
            </a:endParaRPr>
          </a:p>
        </p:txBody>
      </p:sp>
      <p:sp>
        <p:nvSpPr>
          <p:cNvPr id="148" name="Google Shape;148;p21"/>
          <p:cNvSpPr txBox="1"/>
          <p:nvPr>
            <p:ph type="ctrTitle"/>
          </p:nvPr>
        </p:nvSpPr>
        <p:spPr>
          <a:xfrm>
            <a:off x="203275" y="2400500"/>
            <a:ext cx="3544800" cy="592800"/>
          </a:xfrm>
          <a:prstGeom prst="rect">
            <a:avLst/>
          </a:prstGeom>
          <a:solidFill>
            <a:srgbClr val="6AA84F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6">
                <a:solidFill>
                  <a:srgbClr val="1155CC"/>
                </a:solidFill>
              </a:rPr>
              <a:t>Recommended: 0.75 - 0.85</a:t>
            </a:r>
            <a:endParaRPr b="1" sz="2156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ctrTitle"/>
          </p:nvPr>
        </p:nvSpPr>
        <p:spPr>
          <a:xfrm>
            <a:off x="139400" y="300050"/>
            <a:ext cx="6504000" cy="21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/>
              <a:t>Data Analysis on Credit Fraud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/>
              <a:t>                           </a:t>
            </a:r>
            <a:r>
              <a:rPr lang="en-GB" sz="1756"/>
              <a:t>Presented  by  Zaw Min Tun</a:t>
            </a:r>
            <a:endParaRPr sz="1756"/>
          </a:p>
        </p:txBody>
      </p:sp>
      <p:sp>
        <p:nvSpPr>
          <p:cNvPr id="154" name="Google Shape;154;p22"/>
          <p:cNvSpPr txBox="1"/>
          <p:nvPr/>
        </p:nvSpPr>
        <p:spPr>
          <a:xfrm>
            <a:off x="3982225" y="2556800"/>
            <a:ext cx="44922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 !!!</a:t>
            </a:r>
            <a:endParaRPr sz="5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